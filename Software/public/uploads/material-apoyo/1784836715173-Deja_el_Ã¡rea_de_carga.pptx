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7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74320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NCIPLE">
    <p:bg>
      <p:bgPr>
        <a:solidFill>
          <a:srgbClr val="17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97280" y="2331720"/>
            <a:ext cx="69494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7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743200"/>
            <a:ext cx="868680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1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Área de carga limpia y ordenada con camión en el andén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erl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402A">
              <a:alpha val="5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low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977640"/>
            <a:ext cx="12191695" cy="2880360"/>
          </a:xfrm>
          <a:prstGeom prst="rect">
            <a:avLst/>
          </a:prstGeom>
          <a:solidFill>
            <a:srgbClr val="17402A">
              <a:alpha val="8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eyebrow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960120"/>
            <a:ext cx="2651760" cy="457200"/>
          </a:xfrm>
          <a:prstGeom prst="rect">
            <a:avLst/>
          </a:prstGeom>
          <a:solidFill>
            <a:srgbClr val="4CA27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822960" y="960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CAPACITACIÓN PARA CONDUCTORES</a:t>
            </a:r>
            <a:endParaRPr lang="en-US" sz="115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74320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Deja el área de carga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la encontraste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41248" y="4892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DC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y limpieza: la responsabilidad viaja contigo en cada entrega.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E7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IMPORTA</a:t>
            </a:r>
            <a:endParaRPr lang="en-US" sz="12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73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área de carga es de todos</a:t>
            </a:r>
            <a:endParaRPr lang="en-US" sz="3000" dirty="0"/>
          </a:p>
        </p:txBody>
      </p:sp>
      <p:pic>
        <p:nvPicPr>
          <p:cNvPr id="4" name="Image 0" descr="Conductor revisando una lista de verificación junto al camión"/>
          <p:cNvPicPr>
            <a:picLocks noChangeAspect="1"/>
          </p:cNvPicPr>
          <p:nvPr/>
        </p:nvPicPr>
        <p:blipFill>
          <a:blip r:embed="rId3"/>
          <a:srcRect l="21895" r="21895"/>
          <a:stretch/>
        </p:blipFill>
        <p:spPr>
          <a:xfrm>
            <a:off x="7635240" y="1600200"/>
            <a:ext cx="3931920" cy="4663440"/>
          </a:xfrm>
          <a:prstGeom prst="rect">
            <a:avLst/>
          </a:prstGeom>
        </p:spPr>
      </p:pic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91640"/>
            <a:ext cx="6629400" cy="1298448"/>
          </a:xfrm>
          <a:prstGeom prst="rect">
            <a:avLst/>
          </a:prstGeom>
          <a:solidFill>
            <a:srgbClr val="F3F8F4"/>
          </a:solidFill>
          <a:ln/>
          <a:effectLst>
            <a:outerShdw blurRad="114300" dist="38100" dir="5400000" algn="bl" rotWithShape="0">
              <a:srgbClr val="17402A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91640"/>
            <a:ext cx="128016" cy="1298448"/>
          </a:xfrm>
          <a:prstGeom prst="rect">
            <a:avLst/>
          </a:prstGeom>
          <a:solidFill>
            <a:srgbClr val="2E7D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68680" y="1856232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4CA2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828800" y="183794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28800" y="2267712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piso libre de residuos y obstáculos evita caídas, golpes y accidentes.</a:t>
            </a:r>
            <a:endParaRPr lang="en-US" sz="135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172968"/>
            <a:ext cx="6629400" cy="1298448"/>
          </a:xfrm>
          <a:prstGeom prst="rect">
            <a:avLst/>
          </a:prstGeom>
          <a:solidFill>
            <a:srgbClr val="F3F8F4"/>
          </a:solidFill>
          <a:ln/>
          <a:effectLst>
            <a:outerShdw blurRad="114300" dist="38100" dir="5400000" algn="bl" rotWithShape="0">
              <a:srgbClr val="17402A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172968"/>
            <a:ext cx="128016" cy="1298448"/>
          </a:xfrm>
          <a:prstGeom prst="rect">
            <a:avLst/>
          </a:prstGeom>
          <a:solidFill>
            <a:srgbClr val="2E7D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868680" y="33375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4CA2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828800" y="33192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Eficiencia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828800" y="374904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turno arranca sin perder tiempo despejando lo que quedó atrás.</a:t>
            </a:r>
            <a:endParaRPr lang="en-US" sz="1350" dirty="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54296"/>
            <a:ext cx="6629400" cy="1298448"/>
          </a:xfrm>
          <a:prstGeom prst="rect">
            <a:avLst/>
          </a:prstGeom>
          <a:solidFill>
            <a:srgbClr val="F3F8F4"/>
          </a:solidFill>
          <a:ln/>
          <a:effectLst>
            <a:outerShdw blurRad="114300" dist="38100" dir="5400000" algn="bl" rotWithShape="0">
              <a:srgbClr val="17402A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54296"/>
            <a:ext cx="128016" cy="1298448"/>
          </a:xfrm>
          <a:prstGeom prst="rect">
            <a:avLst/>
          </a:prstGeom>
          <a:solidFill>
            <a:srgbClr val="2E7D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868680" y="4818888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4CA2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1828800" y="4800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Reputación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828800" y="523036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espacio impecable refleja el profesionalismo de cada conductor y de la empresa.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ndén de carga vacío, limpio y con estibas ordenadas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erl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402A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691640"/>
            <a:ext cx="7589520" cy="3337560"/>
          </a:xfrm>
          <a:prstGeom prst="rect">
            <a:avLst/>
          </a:prstGeom>
          <a:solidFill>
            <a:srgbClr val="17402A">
              <a:alpha val="9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1115568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CA2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PRINCIPIO</a:t>
            </a:r>
            <a:endParaRPr lang="en-US" sz="13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97280" y="2331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Cero rastro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143000" y="342900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moviste algo, devuélvelo. Si ensuciaste, límpialo. El área debe quedar igual —o mejor— de como la recibiste.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E7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 DE VERIFICACIÓN</a:t>
            </a:r>
            <a:endParaRPr lang="en-US" sz="12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73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 de salir del área</a:t>
            </a:r>
            <a:endParaRPr lang="en-US" sz="3000" dirty="0"/>
          </a:p>
        </p:txBody>
      </p:sp>
      <p:sp>
        <p:nvSpPr>
          <p:cNvPr id="4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6903720" cy="786384"/>
          </a:xfrm>
          <a:prstGeom prst="rect">
            <a:avLst/>
          </a:prstGeom>
          <a:solidFill>
            <a:srgbClr val="E4F0E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1773936"/>
            <a:ext cx="438912" cy="438912"/>
          </a:xfrm>
          <a:prstGeom prst="ellipse">
            <a:avLst/>
          </a:prstGeom>
          <a:solidFill>
            <a:srgbClr val="2E7D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41248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5943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 todo residuo, plástico, fleje y cartón que hayas generado.</a:t>
            </a:r>
            <a:endParaRPr lang="en-US" sz="1400" dirty="0"/>
          </a:p>
        </p:txBody>
      </p:sp>
      <p:sp>
        <p:nvSpPr>
          <p:cNvPr id="8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496312"/>
            <a:ext cx="6903720" cy="786384"/>
          </a:xfrm>
          <a:prstGeom prst="rect">
            <a:avLst/>
          </a:prstGeom>
          <a:solidFill>
            <a:srgbClr val="F3F8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670048"/>
            <a:ext cx="438912" cy="438912"/>
          </a:xfrm>
          <a:prstGeom prst="ellipse">
            <a:avLst/>
          </a:prstGeom>
          <a:solidFill>
            <a:srgbClr val="2E7D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41248" y="2670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496312"/>
            <a:ext cx="5943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estibas, rampas y equipos a su lugar asignado.</a:t>
            </a:r>
            <a:endParaRPr lang="en-US" sz="1400" dirty="0"/>
          </a:p>
        </p:txBody>
      </p:sp>
      <p:sp>
        <p:nvSpPr>
          <p:cNvPr id="12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92424"/>
            <a:ext cx="6903720" cy="786384"/>
          </a:xfrm>
          <a:prstGeom prst="rect">
            <a:avLst/>
          </a:prstGeom>
          <a:solidFill>
            <a:srgbClr val="E4F0E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566160"/>
            <a:ext cx="438912" cy="438912"/>
          </a:xfrm>
          <a:prstGeom prst="ellipse">
            <a:avLst/>
          </a:prstGeom>
          <a:solidFill>
            <a:srgbClr val="2E7D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41248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392424"/>
            <a:ext cx="5943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o despeja el piso de derrames y suciedad.</a:t>
            </a:r>
            <a:endParaRPr lang="en-US" sz="1400" dirty="0"/>
          </a:p>
        </p:txBody>
      </p:sp>
      <p:sp>
        <p:nvSpPr>
          <p:cNvPr id="16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288536"/>
            <a:ext cx="6903720" cy="786384"/>
          </a:xfrm>
          <a:prstGeom prst="rect">
            <a:avLst/>
          </a:prstGeom>
          <a:solidFill>
            <a:srgbClr val="F3F8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462272"/>
            <a:ext cx="438912" cy="438912"/>
          </a:xfrm>
          <a:prstGeom prst="ellipse">
            <a:avLst/>
          </a:prstGeom>
          <a:solidFill>
            <a:srgbClr val="2E7D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841248" y="4462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288536"/>
            <a:ext cx="5943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portones, apaga luces y asegura el espacio.</a:t>
            </a:r>
            <a:endParaRPr lang="en-US" sz="1400" dirty="0"/>
          </a:p>
        </p:txBody>
      </p:sp>
      <p:sp>
        <p:nvSpPr>
          <p:cNvPr id="20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5184648"/>
            <a:ext cx="6903720" cy="786384"/>
          </a:xfrm>
          <a:prstGeom prst="rect">
            <a:avLst/>
          </a:prstGeom>
          <a:solidFill>
            <a:srgbClr val="E4F0E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5358384"/>
            <a:ext cx="438912" cy="438912"/>
          </a:xfrm>
          <a:prstGeom prst="ellipse">
            <a:avLst/>
          </a:prstGeom>
          <a:solidFill>
            <a:srgbClr val="2E7D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41248" y="5358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5184648"/>
            <a:ext cx="5943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cualquier daño o anomalía al supervisor.</a:t>
            </a:r>
            <a:endParaRPr lang="en-US" sz="1400" dirty="0"/>
          </a:p>
        </p:txBody>
      </p:sp>
      <p:pic>
        <p:nvPicPr>
          <p:cNvPr id="24" name="Image 0" descr="Área de carga despejada y ordenada lista para el siguiente turno"/>
          <p:cNvPicPr>
            <a:picLocks noChangeAspect="1"/>
          </p:cNvPicPr>
          <p:nvPr/>
        </p:nvPicPr>
        <p:blipFill>
          <a:blip r:embed="rId3"/>
          <a:srcRect l="22557" r="22557"/>
          <a:stretch/>
        </p:blipFill>
        <p:spPr>
          <a:xfrm>
            <a:off x="7818120" y="1600200"/>
            <a:ext cx="3749040" cy="45537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E7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RUTINA DE CIERRE</a:t>
            </a:r>
            <a:endParaRPr lang="en-US" sz="12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73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Cuatro pasos al terminar</a:t>
            </a:r>
            <a:endParaRPr lang="en-US" sz="3000" dirty="0"/>
          </a:p>
        </p:txBody>
      </p:sp>
      <p:sp>
        <p:nvSpPr>
          <p:cNvPr id="4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57400"/>
            <a:ext cx="2670048" cy="3108960"/>
          </a:xfrm>
          <a:prstGeom prst="rect">
            <a:avLst/>
          </a:prstGeom>
          <a:solidFill>
            <a:srgbClr val="F3F8F4"/>
          </a:solidFill>
          <a:ln/>
          <a:effectLst>
            <a:outerShdw blurRad="114300" dist="38100" dir="5400000" algn="bl" rotWithShape="0">
              <a:srgbClr val="17402A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tep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57400"/>
            <a:ext cx="2670048" cy="822960"/>
          </a:xfrm>
          <a:prstGeom prst="rect">
            <a:avLst/>
          </a:prstGeom>
          <a:solidFill>
            <a:srgbClr val="2E7D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68680" y="211226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554480" y="2112264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Descarga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 toda la mercancía y el material de embalaje del área.</a:t>
            </a:r>
            <a:endParaRPr lang="en-US" sz="1400" dirty="0"/>
          </a:p>
        </p:txBody>
      </p:sp>
      <p:sp>
        <p:nvSpPr>
          <p:cNvPr id="9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6160" y="2057400"/>
            <a:ext cx="2670048" cy="3108960"/>
          </a:xfrm>
          <a:prstGeom prst="rect">
            <a:avLst/>
          </a:prstGeom>
          <a:solidFill>
            <a:srgbClr val="F3F8F4"/>
          </a:solidFill>
          <a:ln/>
          <a:effectLst>
            <a:outerShdw blurRad="114300" dist="38100" dir="5400000" algn="bl" rotWithShape="0">
              <a:srgbClr val="17402A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tep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6160" y="2057400"/>
            <a:ext cx="2670048" cy="822960"/>
          </a:xfrm>
          <a:prstGeom prst="rect">
            <a:avLst/>
          </a:prstGeom>
          <a:solidFill>
            <a:srgbClr val="2E7D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794760" y="211226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480560" y="2112264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94760" y="310896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residuos y empácalos en el punto de disposición correcto.</a:t>
            </a:r>
            <a:endParaRPr lang="en-US" sz="1400" dirty="0"/>
          </a:p>
        </p:txBody>
      </p:sp>
      <p:sp>
        <p:nvSpPr>
          <p:cNvPr id="14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0" y="2057400"/>
            <a:ext cx="2670048" cy="3108960"/>
          </a:xfrm>
          <a:prstGeom prst="rect">
            <a:avLst/>
          </a:prstGeom>
          <a:solidFill>
            <a:srgbClr val="F3F8F4"/>
          </a:solidFill>
          <a:ln/>
          <a:effectLst>
            <a:outerShdw blurRad="114300" dist="38100" dir="5400000" algn="bl" rotWithShape="0">
              <a:srgbClr val="17402A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tep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0" y="2057400"/>
            <a:ext cx="2670048" cy="822960"/>
          </a:xfrm>
          <a:prstGeom prst="rect">
            <a:avLst/>
          </a:prstGeom>
          <a:solidFill>
            <a:srgbClr val="2E7D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720840" y="211226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406640" y="2112264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310896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estibas y equipos; deja los pasillos libres.</a:t>
            </a:r>
            <a:endParaRPr lang="en-US" sz="1400" dirty="0"/>
          </a:p>
        </p:txBody>
      </p:sp>
      <p:sp>
        <p:nvSpPr>
          <p:cNvPr id="19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0" y="2057400"/>
            <a:ext cx="2670048" cy="3108960"/>
          </a:xfrm>
          <a:prstGeom prst="rect">
            <a:avLst/>
          </a:prstGeom>
          <a:solidFill>
            <a:srgbClr val="F3F8F4"/>
          </a:solidFill>
          <a:ln/>
          <a:effectLst>
            <a:outerShdw blurRad="114300" dist="38100" dir="5400000" algn="bl" rotWithShape="0">
              <a:srgbClr val="17402A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tep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0" y="2057400"/>
            <a:ext cx="2670048" cy="822960"/>
          </a:xfrm>
          <a:prstGeom prst="rect">
            <a:avLst/>
          </a:prstGeom>
          <a:solidFill>
            <a:srgbClr val="2E7D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9646920" y="211226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0332720" y="2112264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46920" y="310896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una última inspección visual antes de retirarte.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E7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área queda como la encontraste: limpia, ordenada y segura.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E7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MARCA LA DIFERENCIA</a:t>
            </a:r>
            <a:endParaRPr lang="en-US" sz="12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73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Así no · Así sí</a:t>
            </a:r>
            <a:endParaRPr lang="en-US" sz="3000" dirty="0"/>
          </a:p>
        </p:txBody>
      </p:sp>
      <p:pic>
        <p:nvPicPr>
          <p:cNvPr id="4" name="Image 0" descr="Comparación entre un área de carga desordenada y una limpia y organizada"/>
          <p:cNvPicPr>
            <a:picLocks noChangeAspect="1"/>
          </p:cNvPicPr>
          <p:nvPr/>
        </p:nvPicPr>
        <p:blipFill>
          <a:blip r:embed="rId3"/>
          <a:srcRect t="33969" b="33969"/>
          <a:stretch/>
        </p:blipFill>
        <p:spPr>
          <a:xfrm>
            <a:off x="640080" y="1508760"/>
            <a:ext cx="10908792" cy="2331720"/>
          </a:xfrm>
          <a:prstGeom prst="rect">
            <a:avLst/>
          </a:prstGeom>
        </p:spPr>
      </p:pic>
      <p:sp>
        <p:nvSpPr>
          <p:cNvPr id="5" name="bad co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0"/>
            <a:ext cx="5349240" cy="2331720"/>
          </a:xfrm>
          <a:prstGeom prst="rect">
            <a:avLst/>
          </a:prstGeom>
          <a:solidFill>
            <a:srgbClr val="F6ECE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868680" y="42519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2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ASÍ NO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47548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7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cartón, fleje y basura tirados.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7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Abandonar estibas en los pasillos.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7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Irte sin avisar de un derrame o daño.</a:t>
            </a:r>
            <a:endParaRPr lang="en-US" sz="1350" dirty="0"/>
          </a:p>
        </p:txBody>
      </p:sp>
      <p:sp>
        <p:nvSpPr>
          <p:cNvPr id="8" name="good co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9632" y="4069080"/>
            <a:ext cx="5349240" cy="2331720"/>
          </a:xfrm>
          <a:prstGeom prst="rect">
            <a:avLst/>
          </a:prstGeom>
          <a:solidFill>
            <a:srgbClr val="E4F0E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428232" y="42519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ASÍ SÍ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28232" y="47548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7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Recoger y disponer cada residuo generado.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7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equipos y despejar los pasillos.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7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de inmediato cualquier novedad.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E7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ATENCIÓN</a:t>
            </a:r>
            <a:endParaRPr lang="en-US" sz="12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73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a evitar</a:t>
            </a:r>
            <a:endParaRPr lang="en-US" sz="3000" dirty="0"/>
          </a:p>
        </p:txBody>
      </p:sp>
      <p:sp>
        <p:nvSpPr>
          <p:cNvPr id="4" name="er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5349240" cy="1737360"/>
          </a:xfrm>
          <a:prstGeom prst="rect">
            <a:avLst/>
          </a:prstGeom>
          <a:solidFill>
            <a:srgbClr val="F3F8F4"/>
          </a:solidFill>
          <a:ln/>
          <a:effectLst>
            <a:outerShdw blurRad="114300" dist="38100" dir="5400000" algn="bl" rotWithShape="0">
              <a:srgbClr val="17402A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128016" cy="1737360"/>
          </a:xfrm>
          <a:prstGeom prst="rect">
            <a:avLst/>
          </a:prstGeom>
          <a:solidFill>
            <a:srgbClr val="C24A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6012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24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18562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Dejarlo “para después”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7744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desorden se acumula y termina siendo problema de otro turno.</a:t>
            </a:r>
            <a:endParaRPr lang="en-US" sz="1300" dirty="0"/>
          </a:p>
        </p:txBody>
      </p:sp>
      <p:sp>
        <p:nvSpPr>
          <p:cNvPr id="9" name="er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9632" y="1600200"/>
            <a:ext cx="5349240" cy="1737360"/>
          </a:xfrm>
          <a:prstGeom prst="rect">
            <a:avLst/>
          </a:prstGeom>
          <a:solidFill>
            <a:srgbClr val="F3F8F4"/>
          </a:solidFill>
          <a:ln/>
          <a:effectLst>
            <a:outerShdw blurRad="114300" dist="38100" dir="5400000" algn="bl" rotWithShape="0">
              <a:srgbClr val="17402A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9632" y="1600200"/>
            <a:ext cx="128016" cy="1737360"/>
          </a:xfrm>
          <a:prstGeom prst="rect">
            <a:avLst/>
          </a:prstGeom>
          <a:solidFill>
            <a:srgbClr val="C24A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519672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24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159752" y="18562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Suponer que alguien más limpia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59752" y="237744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área es responsabilidad de quien la usó por última vez.</a:t>
            </a:r>
            <a:endParaRPr lang="en-US" sz="1300" dirty="0"/>
          </a:p>
        </p:txBody>
      </p:sp>
      <p:sp>
        <p:nvSpPr>
          <p:cNvPr id="14" name="er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66160"/>
            <a:ext cx="5349240" cy="1737360"/>
          </a:xfrm>
          <a:prstGeom prst="rect">
            <a:avLst/>
          </a:prstGeom>
          <a:solidFill>
            <a:srgbClr val="F3F8F4"/>
          </a:solidFill>
          <a:ln/>
          <a:effectLst>
            <a:outerShdw blurRad="114300" dist="38100" dir="5400000" algn="bl" rotWithShape="0">
              <a:srgbClr val="17402A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66160"/>
            <a:ext cx="128016" cy="1737360"/>
          </a:xfrm>
          <a:prstGeom prst="rect">
            <a:avLst/>
          </a:prstGeom>
          <a:solidFill>
            <a:srgbClr val="C24A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96012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24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00200" y="38221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Bloquear salidas o extintores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3434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pasillo obstruido es un riesgo de seguridad grave.</a:t>
            </a:r>
            <a:endParaRPr lang="en-US" sz="1300" dirty="0"/>
          </a:p>
        </p:txBody>
      </p:sp>
      <p:sp>
        <p:nvSpPr>
          <p:cNvPr id="19" name="er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9632" y="3566160"/>
            <a:ext cx="5349240" cy="1737360"/>
          </a:xfrm>
          <a:prstGeom prst="rect">
            <a:avLst/>
          </a:prstGeom>
          <a:solidFill>
            <a:srgbClr val="F3F8F4"/>
          </a:solidFill>
          <a:ln/>
          <a:effectLst>
            <a:outerShdw blurRad="114300" dist="38100" dir="5400000" algn="bl" rotWithShape="0">
              <a:srgbClr val="17402A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9632" y="3566160"/>
            <a:ext cx="128016" cy="1737360"/>
          </a:xfrm>
          <a:prstGeom prst="rect">
            <a:avLst/>
          </a:prstGeom>
          <a:solidFill>
            <a:srgbClr val="C24A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519672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24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159752" y="38221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reportar daños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9752" y="43434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callado hoy es un accidente o costo mañana.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E7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RESULTADO</a:t>
            </a:r>
            <a:endParaRPr lang="en-US" sz="12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73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ganamos todos</a:t>
            </a:r>
            <a:endParaRPr lang="en-US" sz="3000" dirty="0"/>
          </a:p>
        </p:txBody>
      </p:sp>
      <p:sp>
        <p:nvSpPr>
          <p:cNvPr id="4" name="benefi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28800"/>
            <a:ext cx="3502152" cy="3200400"/>
          </a:xfrm>
          <a:prstGeom prst="rect">
            <a:avLst/>
          </a:prstGeom>
          <a:solidFill>
            <a:srgbClr val="F3F8F4"/>
          </a:solidFill>
          <a:ln/>
          <a:effectLst>
            <a:outerShdw blurRad="114300" dist="38100" dir="5400000" algn="bl" rotWithShape="0">
              <a:srgbClr val="17402A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+Seguridad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60120" y="3520440"/>
            <a:ext cx="2862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accidentes y riesgos en un espacio despejado.</a:t>
            </a:r>
            <a:endParaRPr lang="en-US" sz="1450" dirty="0"/>
          </a:p>
        </p:txBody>
      </p:sp>
      <p:sp>
        <p:nvSpPr>
          <p:cNvPr id="7" name="benefi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0" y="1828800"/>
            <a:ext cx="3502152" cy="3200400"/>
          </a:xfrm>
          <a:prstGeom prst="rect">
            <a:avLst/>
          </a:prstGeom>
          <a:solidFill>
            <a:srgbClr val="2E7D50"/>
          </a:solidFill>
          <a:ln/>
          <a:effectLst>
            <a:outerShdw blurRad="114300" dist="38100" dir="5400000" algn="bl" rotWithShape="0">
              <a:srgbClr val="17402A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617720" y="233172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-Tiempo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63440" y="3520440"/>
            <a:ext cx="2862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turno arranca sin demoras ni retrabajos.</a:t>
            </a:r>
            <a:endParaRPr lang="en-US" sz="1450" dirty="0"/>
          </a:p>
        </p:txBody>
      </p:sp>
      <p:sp>
        <p:nvSpPr>
          <p:cNvPr id="10" name="benefi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1828800"/>
            <a:ext cx="3502152" cy="3200400"/>
          </a:xfrm>
          <a:prstGeom prst="rect">
            <a:avLst/>
          </a:prstGeom>
          <a:solidFill>
            <a:srgbClr val="F3F8F4"/>
          </a:solidFill>
          <a:ln/>
          <a:effectLst>
            <a:outerShdw blurRad="114300" dist="38100" dir="5400000" algn="bl" rotWithShape="0">
              <a:srgbClr val="17402A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321040" y="233172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+Confianza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66760" y="3520440"/>
            <a:ext cx="2862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 colegas ven un servicio profesional y cuidado.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E7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pequeño hábito al final de cada entrega, un gran impacto para toda la operación.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Área de carga limpia y ordenada al final del turno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erl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402A">
              <a:alpha val="76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82296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CA2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 COMPROMISO</a:t>
            </a:r>
            <a:endParaRPr lang="en-US" sz="14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74320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dejo como la encontré.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41248" y="37947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conductor entrega el área de carga limpia, ordenada y segura. Sin excepciones.</a:t>
            </a:r>
            <a:endParaRPr lang="en-US" sz="1800" dirty="0"/>
          </a:p>
        </p:txBody>
      </p:sp>
      <p:sp>
        <p:nvSpPr>
          <p:cNvPr id="7" name="cta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937760"/>
            <a:ext cx="4297680" cy="777240"/>
          </a:xfrm>
          <a:prstGeom prst="rect">
            <a:avLst/>
          </a:prstGeom>
          <a:solidFill>
            <a:srgbClr val="4CA27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841248" y="49377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4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 y limpieza, en cada entrega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467</Words>
  <Application>Microsoft Office PowerPoint</Application>
  <PresentationFormat>Panorámica</PresentationFormat>
  <Paragraphs>91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Deja el área de carga como la encontraste</vt:lpstr>
      <vt:lpstr>El área de carga es de todos</vt:lpstr>
      <vt:lpstr>Cero rastro</vt:lpstr>
      <vt:lpstr>Antes de salir del área</vt:lpstr>
      <vt:lpstr>Cuatro pasos al terminar</vt:lpstr>
      <vt:lpstr>Así no · Así sí</vt:lpstr>
      <vt:lpstr>Errores comunes a evitar</vt:lpstr>
      <vt:lpstr>Lo que ganamos todos</vt:lpstr>
      <vt:lpstr>La dejo como la encontré.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Procesados Margarita S.A.S</dc:creator>
  <cp:lastModifiedBy>Procesados Margarita S.A.S</cp:lastModifiedBy>
  <cp:revision>2</cp:revision>
  <dcterms:created xsi:type="dcterms:W3CDTF">2026-07-10T13:25:35Z</dcterms:created>
  <dcterms:modified xsi:type="dcterms:W3CDTF">2026-07-10T23:05:03Z</dcterms:modified>
</cp:coreProperties>
</file>